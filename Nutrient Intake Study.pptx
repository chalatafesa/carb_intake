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2ab0cc5f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2ab0cc5f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2ab0cc5f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2ab0cc5f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2ab0cc5f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2ab0cc5f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2ab0cc5f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2ab0cc5f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2ab0cc5f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2ab0cc5f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2fbfc1d7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2fbfc1d7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2ab0cc5f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2ab0cc5f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2ab0cc5f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2ab0cc5f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2fbfc1d7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2fbfc1d7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Nutrient Intake Study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Chala Tafesa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will carbohydrate intake impact both energy and weight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Independent Variables</a:t>
            </a:r>
            <a:endParaRPr sz="32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Carbohydrate Intake: 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Week 1 - Increased intake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Week 2 - Decreased intake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Dependent Variables</a:t>
            </a:r>
            <a:endParaRPr sz="3200"/>
          </a:p>
        </p:txBody>
      </p:sp>
      <p:sp>
        <p:nvSpPr>
          <p:cNvPr id="151" name="Google Shape;151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Weight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Energy levels</a:t>
            </a:r>
            <a:endParaRPr sz="2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Collection</a:t>
            </a:r>
            <a:endParaRPr sz="3200"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MyFitnessPal 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Self-assessment (Energy Levels)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Daily Weight Tracking</a:t>
            </a:r>
            <a:endParaRPr sz="24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9" title="We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73" y="1667475"/>
            <a:ext cx="4094824" cy="327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title="Energy_Level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9700" y="1800200"/>
            <a:ext cx="4562456" cy="2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Null Hypothesis: Decreased carbohydrate intake will not have a significant impact on energy levels and weight.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VS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Alternative Hypothesis: De</a:t>
            </a:r>
            <a:r>
              <a:rPr lang="en" sz="2400"/>
              <a:t>creased carbohydrate intake will significantly decrease energy levels and weight. 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54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T-test for Energy Levels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 = 1.0445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DF = 11.902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P-Value = 0.1585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000000"/>
                </a:solidFill>
              </a:rPr>
              <a:t>H</a:t>
            </a:r>
            <a:r>
              <a:rPr lang="en" sz="2200">
                <a:solidFill>
                  <a:srgbClr val="000000"/>
                </a:solidFill>
              </a:rPr>
              <a:t>0: </a:t>
            </a:r>
            <a:r>
              <a:rPr i="1" lang="en" sz="2200">
                <a:solidFill>
                  <a:srgbClr val="000000"/>
                </a:solidFill>
              </a:rPr>
              <a:t>μI </a:t>
            </a:r>
            <a:r>
              <a:rPr lang="en" sz="2200">
                <a:solidFill>
                  <a:srgbClr val="000000"/>
                </a:solidFill>
              </a:rPr>
              <a:t>= </a:t>
            </a:r>
            <a:r>
              <a:rPr i="1" lang="en" sz="2200">
                <a:solidFill>
                  <a:srgbClr val="000000"/>
                </a:solidFill>
              </a:rPr>
              <a:t>μD</a:t>
            </a:r>
            <a:endParaRPr i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000000"/>
                </a:solidFill>
              </a:rPr>
              <a:t>Ha</a:t>
            </a:r>
            <a:r>
              <a:rPr lang="en" sz="2200">
                <a:solidFill>
                  <a:srgbClr val="000000"/>
                </a:solidFill>
              </a:rPr>
              <a:t>: </a:t>
            </a:r>
            <a:r>
              <a:rPr i="1" lang="en" sz="2200">
                <a:solidFill>
                  <a:srgbClr val="000000"/>
                </a:solidFill>
              </a:rPr>
              <a:t>μI </a:t>
            </a:r>
            <a:r>
              <a:rPr lang="en" sz="2200">
                <a:solidFill>
                  <a:srgbClr val="000000"/>
                </a:solidFill>
              </a:rPr>
              <a:t>&gt; </a:t>
            </a:r>
            <a:r>
              <a:rPr i="1" lang="en" sz="2200">
                <a:solidFill>
                  <a:srgbClr val="000000"/>
                </a:solidFill>
              </a:rPr>
              <a:t>μD</a:t>
            </a:r>
            <a:endParaRPr i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>
            <p:ph idx="2" type="body"/>
          </p:nvPr>
        </p:nvSpPr>
        <p:spPr>
          <a:xfrm>
            <a:off x="4058350" y="1990725"/>
            <a:ext cx="42312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Conclusion: P</a:t>
            </a:r>
            <a:r>
              <a:rPr i="1" lang="en" sz="1700">
                <a:solidFill>
                  <a:srgbClr val="000000"/>
                </a:solidFill>
              </a:rPr>
              <a:t> </a:t>
            </a:r>
            <a:r>
              <a:rPr lang="en" sz="1700">
                <a:solidFill>
                  <a:srgbClr val="000000"/>
                </a:solidFill>
              </a:rPr>
              <a:t>− </a:t>
            </a:r>
            <a:r>
              <a:rPr i="1" lang="en" sz="1700">
                <a:solidFill>
                  <a:srgbClr val="000000"/>
                </a:solidFill>
              </a:rPr>
              <a:t>value </a:t>
            </a:r>
            <a:r>
              <a:rPr lang="en" sz="1700">
                <a:solidFill>
                  <a:srgbClr val="000000"/>
                </a:solidFill>
              </a:rPr>
              <a:t>of 0.1585 which is greater than the significance level </a:t>
            </a:r>
            <a:r>
              <a:rPr i="1" lang="en" sz="1700">
                <a:solidFill>
                  <a:srgbClr val="000000"/>
                </a:solidFill>
              </a:rPr>
              <a:t>α </a:t>
            </a:r>
            <a:r>
              <a:rPr lang="en" sz="1700">
                <a:solidFill>
                  <a:srgbClr val="000000"/>
                </a:solidFill>
              </a:rPr>
              <a:t>= 0.05</a:t>
            </a:r>
            <a:r>
              <a:rPr lang="en" sz="1700">
                <a:solidFill>
                  <a:srgbClr val="000000"/>
                </a:solidFill>
              </a:rPr>
              <a:t>. Therefore, we fail to reject the </a:t>
            </a:r>
            <a:r>
              <a:rPr i="1" lang="en" sz="1700">
                <a:solidFill>
                  <a:srgbClr val="000000"/>
                </a:solidFill>
              </a:rPr>
              <a:t>H</a:t>
            </a:r>
            <a:r>
              <a:rPr lang="en" sz="1700">
                <a:solidFill>
                  <a:srgbClr val="000000"/>
                </a:solidFill>
              </a:rPr>
              <a:t>0. At 5% significance level we do not have </a:t>
            </a:r>
            <a:r>
              <a:rPr lang="en" sz="1700">
                <a:solidFill>
                  <a:srgbClr val="000000"/>
                </a:solidFill>
              </a:rPr>
              <a:t>sufficient</a:t>
            </a:r>
            <a:r>
              <a:rPr lang="en" sz="1700">
                <a:solidFill>
                  <a:srgbClr val="000000"/>
                </a:solidFill>
              </a:rPr>
              <a:t> data to conclude that my mean energy levels with increase carbohydrate intake is not significantly different than my mean energy levels with decreased carbohydrate intake.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559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19150" y="854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T-test for Weight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 = -6.5723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DF = 9.4649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P-Value = 0.00004065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000000"/>
                </a:solidFill>
              </a:rPr>
              <a:t>H</a:t>
            </a:r>
            <a:r>
              <a:rPr lang="en" sz="2200">
                <a:solidFill>
                  <a:srgbClr val="000000"/>
                </a:solidFill>
              </a:rPr>
              <a:t>0: </a:t>
            </a:r>
            <a:r>
              <a:rPr i="1" lang="en" sz="2200">
                <a:solidFill>
                  <a:srgbClr val="000000"/>
                </a:solidFill>
              </a:rPr>
              <a:t>μI </a:t>
            </a:r>
            <a:r>
              <a:rPr lang="en" sz="2200">
                <a:solidFill>
                  <a:srgbClr val="000000"/>
                </a:solidFill>
              </a:rPr>
              <a:t>= </a:t>
            </a:r>
            <a:r>
              <a:rPr i="1" lang="en" sz="2200">
                <a:solidFill>
                  <a:srgbClr val="000000"/>
                </a:solidFill>
              </a:rPr>
              <a:t>μD</a:t>
            </a:r>
            <a:endParaRPr i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000000"/>
                </a:solidFill>
              </a:rPr>
              <a:t>Ha</a:t>
            </a:r>
            <a:r>
              <a:rPr lang="en" sz="2200">
                <a:solidFill>
                  <a:srgbClr val="000000"/>
                </a:solidFill>
              </a:rPr>
              <a:t>: </a:t>
            </a:r>
            <a:r>
              <a:rPr i="1" lang="en" sz="2200">
                <a:solidFill>
                  <a:srgbClr val="000000"/>
                </a:solidFill>
              </a:rPr>
              <a:t>μI </a:t>
            </a:r>
            <a:r>
              <a:rPr lang="en" sz="2200">
                <a:solidFill>
                  <a:srgbClr val="000000"/>
                </a:solidFill>
              </a:rPr>
              <a:t>&gt; </a:t>
            </a:r>
            <a:r>
              <a:rPr i="1" lang="en" sz="2200">
                <a:solidFill>
                  <a:srgbClr val="000000"/>
                </a:solidFill>
              </a:rPr>
              <a:t>μD</a:t>
            </a:r>
            <a:endParaRPr i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 txBox="1"/>
          <p:nvPr>
            <p:ph idx="2" type="body"/>
          </p:nvPr>
        </p:nvSpPr>
        <p:spPr>
          <a:xfrm>
            <a:off x="4058350" y="1990725"/>
            <a:ext cx="42312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Conclusion: P</a:t>
            </a:r>
            <a:r>
              <a:rPr i="1" lang="en" sz="1700">
                <a:solidFill>
                  <a:srgbClr val="000000"/>
                </a:solidFill>
              </a:rPr>
              <a:t> </a:t>
            </a:r>
            <a:r>
              <a:rPr lang="en" sz="1700">
                <a:solidFill>
                  <a:srgbClr val="000000"/>
                </a:solidFill>
              </a:rPr>
              <a:t>− </a:t>
            </a:r>
            <a:r>
              <a:rPr i="1" lang="en" sz="1700">
                <a:solidFill>
                  <a:srgbClr val="000000"/>
                </a:solidFill>
              </a:rPr>
              <a:t>value </a:t>
            </a:r>
            <a:r>
              <a:rPr lang="en" sz="1700">
                <a:solidFill>
                  <a:srgbClr val="000000"/>
                </a:solidFill>
              </a:rPr>
              <a:t>of 0.00004065 which is less than the significance level </a:t>
            </a:r>
            <a:r>
              <a:rPr i="1" lang="en" sz="1700">
                <a:solidFill>
                  <a:srgbClr val="000000"/>
                </a:solidFill>
              </a:rPr>
              <a:t>α </a:t>
            </a:r>
            <a:r>
              <a:rPr lang="en" sz="1700">
                <a:solidFill>
                  <a:srgbClr val="000000"/>
                </a:solidFill>
              </a:rPr>
              <a:t>= 0.05. Therefore, we reject the </a:t>
            </a:r>
            <a:r>
              <a:rPr i="1" lang="en" sz="1700">
                <a:solidFill>
                  <a:srgbClr val="000000"/>
                </a:solidFill>
              </a:rPr>
              <a:t>H</a:t>
            </a:r>
            <a:r>
              <a:rPr lang="en" sz="1700">
                <a:solidFill>
                  <a:srgbClr val="000000"/>
                </a:solidFill>
              </a:rPr>
              <a:t>0. At 5% significance level we have sufficient data to conclude that my mean weight with increase carbohydrate intake is significantly greater than my mean weight with decreased carbohydrate intake.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559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